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Mono" charset="1" panose="00000000000000000000"/>
      <p:regular r:id="rId18"/>
    </p:embeddedFont>
    <p:embeddedFont>
      <p:font typeface="Poppins Bold" charset="1" panose="00000800000000000000"/>
      <p:regular r:id="rId19"/>
    </p:embeddedFont>
    <p:embeddedFont>
      <p:font typeface="Open Sans" charset="1" panose="00000000000000000000"/>
      <p:regular r:id="rId20"/>
    </p:embeddedFont>
    <p:embeddedFont>
      <p:font typeface="Open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B1220">
                    <a:alpha val="100000"/>
                  </a:srgbClr>
                </a:gs>
                <a:gs pos="65000">
                  <a:srgbClr val="0B1220">
                    <a:alpha val="72000"/>
                  </a:srgbClr>
                </a:gs>
                <a:gs pos="100000">
                  <a:srgbClr val="0B1220">
                    <a:alpha val="15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38200" y="857250"/>
            <a:ext cx="59055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14B8A6"/>
                </a:solidFill>
                <a:latin typeface="Roboto Mono"/>
                <a:ea typeface="Roboto Mono"/>
                <a:cs typeface="Roboto Mono"/>
                <a:sym typeface="Roboto Mono"/>
              </a:rPr>
              <a:t>CA-3 | Agentic AI Proof of Concept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" y="2171700"/>
            <a:ext cx="11906250" cy="103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2"/>
              </a:lnSpc>
            </a:pPr>
            <a:r>
              <a:rPr lang="en-US" sz="70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Model Drift </a:t>
            </a:r>
            <a:r>
              <a:rPr lang="en-US" sz="7050" b="true">
                <a:solidFill>
                  <a:srgbClr val="14B8A6"/>
                </a:solidFill>
                <a:latin typeface="Poppins Bold"/>
                <a:ea typeface="Poppins Bold"/>
                <a:cs typeface="Poppins Bold"/>
                <a:sym typeface="Poppins Bold"/>
              </a:rPr>
              <a:t>Watchdog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8200" y="3438525"/>
            <a:ext cx="10001250" cy="88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262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An Agentic AI System That Detects, Decides, Validates &amp; Acts When ML Models Go Stale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38200" y="4810125"/>
            <a:ext cx="6905625" cy="590550"/>
            <a:chOff x="0" y="0"/>
            <a:chExt cx="9207500" cy="78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07500" cy="787400"/>
            </a:xfrm>
            <a:custGeom>
              <a:avLst/>
              <a:gdLst/>
              <a:ahLst/>
              <a:cxnLst/>
              <a:rect r="r" b="b" t="t" l="l"/>
              <a:pathLst>
                <a:path h="787400" w="9207500">
                  <a:moveTo>
                    <a:pt x="35034" y="0"/>
                  </a:moveTo>
                  <a:lnTo>
                    <a:pt x="9172466" y="0"/>
                  </a:lnTo>
                  <a:cubicBezTo>
                    <a:pt x="9191815" y="0"/>
                    <a:pt x="9207500" y="15685"/>
                    <a:pt x="9207500" y="35034"/>
                  </a:cubicBezTo>
                  <a:lnTo>
                    <a:pt x="9207500" y="752366"/>
                  </a:lnTo>
                  <a:cubicBezTo>
                    <a:pt x="9207500" y="771715"/>
                    <a:pt x="9191815" y="787400"/>
                    <a:pt x="9172466" y="787400"/>
                  </a:cubicBezTo>
                  <a:lnTo>
                    <a:pt x="35034" y="787400"/>
                  </a:lnTo>
                  <a:cubicBezTo>
                    <a:pt x="15685" y="787400"/>
                    <a:pt x="0" y="771715"/>
                    <a:pt x="0" y="752366"/>
                  </a:cubicBezTo>
                  <a:lnTo>
                    <a:pt x="0" y="35034"/>
                  </a:lnTo>
                  <a:cubicBezTo>
                    <a:pt x="0" y="15685"/>
                    <a:pt x="15685" y="0"/>
                    <a:pt x="35034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9207500" cy="815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Domain: MLOps · Credit Risk in Digital Lending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8200" y="6762750"/>
            <a:ext cx="5238750" cy="1714500"/>
            <a:chOff x="0" y="0"/>
            <a:chExt cx="6985000" cy="2286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985000" cy="2286000"/>
              <a:chOff x="0" y="0"/>
              <a:chExt cx="6985000" cy="228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985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985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6400" y="517525"/>
              <a:ext cx="6350000" cy="835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Harsh Sharma</a:t>
              </a:r>
            </a:p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PRN 24070126067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38200" y="9382125"/>
            <a:ext cx="857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Symbiosis Institute of Technology, Pune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714375"/>
            <a:ext cx="10477500" cy="72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9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ML Models Fail Silently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2171700"/>
            <a:ext cx="7620000" cy="290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• Models trained on past data; real-world data changes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• Incomes rise, new customer types appear, pipelines break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• Model keeps running but makes worse decisions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• Risky loans approved; good customers rejected in lending</a:t>
            </a:r>
          </a:p>
          <a:p>
            <a:pPr algn="l">
              <a:lnSpc>
                <a:spcPts val="3371"/>
              </a:lnSpc>
            </a:pPr>
            <a:r>
              <a:rPr lang="en-US" sz="21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• Loan defaults known months later → losses discovered too late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34500" y="2286000"/>
            <a:ext cx="7239000" cy="4095750"/>
            <a:chOff x="0" y="0"/>
            <a:chExt cx="9652000" cy="546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777074"/>
              <a:ext cx="9652000" cy="3683926"/>
            </a:xfrm>
            <a:custGeom>
              <a:avLst/>
              <a:gdLst/>
              <a:ahLst/>
              <a:cxnLst/>
              <a:rect r="r" b="b" t="t" l="l"/>
              <a:pathLst>
                <a:path h="3683926" w="9652000">
                  <a:moveTo>
                    <a:pt x="0" y="3683926"/>
                  </a:moveTo>
                  <a:cubicBezTo>
                    <a:pt x="1930400" y="3574706"/>
                    <a:pt x="2702560" y="2318676"/>
                    <a:pt x="3764280" y="516546"/>
                  </a:cubicBezTo>
                  <a:cubicBezTo>
                    <a:pt x="4826000" y="-1340194"/>
                    <a:pt x="5887720" y="2318676"/>
                    <a:pt x="7045960" y="3465486"/>
                  </a:cubicBezTo>
                  <a:cubicBezTo>
                    <a:pt x="7914640" y="3683926"/>
                    <a:pt x="8686800" y="3683926"/>
                    <a:pt x="9652000" y="3683926"/>
                  </a:cubicBezTo>
                </a:path>
              </a:pathLst>
            </a:custGeom>
            <a:blipFill>
              <a:blip r:embed="rId2"/>
              <a:stretch>
                <a:fillRect l="-10303" t="-48238" r="76539" b="113764"/>
              </a:stretch>
            </a:blipFill>
            <a:ln w="66675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34500" y="2286000"/>
            <a:ext cx="7239000" cy="4095750"/>
            <a:chOff x="0" y="0"/>
            <a:chExt cx="9652000" cy="546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463683"/>
              <a:ext cx="9652000" cy="2997317"/>
            </a:xfrm>
            <a:custGeom>
              <a:avLst/>
              <a:gdLst/>
              <a:ahLst/>
              <a:cxnLst/>
              <a:rect r="r" b="b" t="t" l="l"/>
              <a:pathLst>
                <a:path h="2997317" w="9652000">
                  <a:moveTo>
                    <a:pt x="0" y="2997317"/>
                  </a:moveTo>
                  <a:cubicBezTo>
                    <a:pt x="2702560" y="2997317"/>
                    <a:pt x="3764280" y="2669657"/>
                    <a:pt x="4826000" y="1359017"/>
                  </a:cubicBezTo>
                  <a:cubicBezTo>
                    <a:pt x="5887720" y="-1098433"/>
                    <a:pt x="6949440" y="157597"/>
                    <a:pt x="7721600" y="2123557"/>
                  </a:cubicBezTo>
                  <a:cubicBezTo>
                    <a:pt x="8300720" y="2888097"/>
                    <a:pt x="8976360" y="2997317"/>
                    <a:pt x="9652000" y="2997317"/>
                  </a:cubicBezTo>
                </a:path>
              </a:pathLst>
            </a:custGeom>
            <a:blipFill>
              <a:blip r:embed="rId2"/>
              <a:stretch>
                <a:fillRect l="-10303" t="-82196" r="76539" b="139825"/>
              </a:stretch>
            </a:blipFill>
            <a:ln w="66675" cap="sq">
              <a:solidFill>
                <a:srgbClr val="F59E0B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668000" y="6686550"/>
            <a:ext cx="238125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14B8A6"/>
                </a:solidFill>
                <a:latin typeface="Open Sans"/>
                <a:ea typeface="Open Sans"/>
                <a:cs typeface="Open Sans"/>
                <a:sym typeface="Open Sans"/>
              </a:rPr>
              <a:t>Training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97000" y="6686550"/>
            <a:ext cx="219075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F59E0B"/>
                </a:solidFill>
                <a:latin typeface="Open Sans"/>
                <a:ea typeface="Open Sans"/>
                <a:cs typeface="Open Sans"/>
                <a:sym typeface="Open Sans"/>
              </a:rPr>
              <a:t>Today’s Data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39250" y="7572375"/>
            <a:ext cx="7620000" cy="1381125"/>
            <a:chOff x="0" y="0"/>
            <a:chExt cx="10160000" cy="18415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60000" cy="1841500"/>
              <a:chOff x="0" y="0"/>
              <a:chExt cx="10160000" cy="18415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160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33281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160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81000" y="342900"/>
              <a:ext cx="9271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Drift = the input data in production no longer looks like the training data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Harsh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714375"/>
            <a:ext cx="11430000" cy="72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9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Why MLOps in Lending?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38200" y="2190750"/>
            <a:ext cx="5048250" cy="4095750"/>
            <a:chOff x="0" y="0"/>
            <a:chExt cx="6731000" cy="5461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731000" cy="5461000"/>
              <a:chOff x="0" y="0"/>
              <a:chExt cx="6731000" cy="5461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31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731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527050"/>
              <a:ext cx="12700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₹↓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08000" y="2041525"/>
              <a:ext cx="5715000" cy="47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High Financial Stakes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08000" y="3073400"/>
              <a:ext cx="5715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Every wrong prediction is a bad loan or a lost customer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2700" y="2190750"/>
            <a:ext cx="5048250" cy="4095750"/>
            <a:chOff x="0" y="0"/>
            <a:chExt cx="6731000" cy="5461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731000" cy="5461000"/>
              <a:chOff x="0" y="0"/>
              <a:chExt cx="6731000" cy="5461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731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731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08000" y="527050"/>
              <a:ext cx="12700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◷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08000" y="2041525"/>
              <a:ext cx="5715000" cy="47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Label Delay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08000" y="3073400"/>
              <a:ext cx="5715000" cy="135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True outcomes arrive months later; input monitoring is the only early signal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0" y="2190750"/>
            <a:ext cx="5048250" cy="4095750"/>
            <a:chOff x="0" y="0"/>
            <a:chExt cx="6731000" cy="5461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731000" cy="5461000"/>
              <a:chOff x="0" y="0"/>
              <a:chExt cx="6731000" cy="5461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731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731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08000" y="527050"/>
              <a:ext cx="12700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◇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08000" y="2041525"/>
              <a:ext cx="5715000" cy="47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Regulatory Risk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8000" y="3073400"/>
              <a:ext cx="5715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Lenders must explain and audit automated credit decisions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38200" y="7858125"/>
            <a:ext cx="16611600" cy="1047750"/>
            <a:chOff x="0" y="0"/>
            <a:chExt cx="22148800" cy="1397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2148800" cy="1397000"/>
              <a:chOff x="0" y="0"/>
              <a:chExt cx="22148800" cy="1397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1488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21488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0D2C3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21488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68400" y="454025"/>
              <a:ext cx="19812000" cy="47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400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Monitoring is a real, everyday pain point for ML teams in industry.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Harsh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09600"/>
            <a:ext cx="138112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From Manual Checks to Agentic Monitoring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19500" y="1733550"/>
            <a:ext cx="4762500" cy="33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2325" b="true">
                <a:solidFill>
                  <a:srgbClr val="EF4444"/>
                </a:solidFill>
                <a:latin typeface="Poppins Bold"/>
                <a:ea typeface="Poppins Bold"/>
                <a:cs typeface="Poppins Bold"/>
                <a:sym typeface="Poppins Bold"/>
              </a:rPr>
              <a:t>Today (Manual)  ×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01250" y="1733550"/>
            <a:ext cx="6191250" cy="33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2325" b="true">
                <a:solidFill>
                  <a:srgbClr val="14B8A6"/>
                </a:solidFill>
                <a:latin typeface="Poppins Bold"/>
                <a:ea typeface="Poppins Bold"/>
                <a:cs typeface="Poppins Bold"/>
                <a:sym typeface="Poppins Bold"/>
              </a:rPr>
              <a:t>With Model Drift Watchdog  ✓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0" y="1619250"/>
            <a:ext cx="0" cy="6477000"/>
          </a:xfrm>
          <a:prstGeom prst="line">
            <a:avLst/>
          </a:prstGeom>
          <a:ln cap="flat" w="19050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38200" y="2476500"/>
            <a:ext cx="2095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9CAAC0"/>
                </a:solidFill>
                <a:latin typeface="Roboto Mono"/>
                <a:ea typeface="Roboto Mono"/>
                <a:cs typeface="Roboto Mono"/>
                <a:sym typeface="Roboto Mono"/>
              </a:rPr>
              <a:t>Frequency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3250" y="2447925"/>
            <a:ext cx="56197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×  Monthly / ad-hoc notebook checks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15500" y="2447925"/>
            <a:ext cx="6858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✓  Every new data batch, automatically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200" y="3409950"/>
            <a:ext cx="2095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9CAAC0"/>
                </a:solidFill>
                <a:latin typeface="Roboto Mono"/>
                <a:ea typeface="Roboto Mono"/>
                <a:cs typeface="Roboto Mono"/>
                <a:sym typeface="Roboto Mono"/>
              </a:rPr>
              <a:t>Detection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43250" y="3381375"/>
            <a:ext cx="56197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×  Noticed after losses appear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15500" y="3381375"/>
            <a:ext cx="6858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✓  Caught early from input-data drift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8200" y="4343400"/>
            <a:ext cx="2095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9CAAC0"/>
                </a:solidFill>
                <a:latin typeface="Roboto Mono"/>
                <a:ea typeface="Roboto Mono"/>
                <a:cs typeface="Roboto Mono"/>
                <a:sym typeface="Roboto Mono"/>
              </a:rPr>
              <a:t>Root cause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43250" y="4314825"/>
            <a:ext cx="56197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×  Engineers investigate by hand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5500" y="4314825"/>
            <a:ext cx="6858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✓  Agents separate real drift from broken pipelines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8200" y="5276850"/>
            <a:ext cx="2095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9CAAC0"/>
                </a:solidFill>
                <a:latin typeface="Roboto Mono"/>
                <a:ea typeface="Roboto Mono"/>
                <a:cs typeface="Roboto Mono"/>
                <a:sym typeface="Roboto Mono"/>
              </a:rPr>
              <a:t>Decision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43250" y="5248275"/>
            <a:ext cx="56197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×  Gut feeling, inconsistent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5248275"/>
            <a:ext cx="6858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✓  Policy-based, validated by a Critic agent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8200" y="6210300"/>
            <a:ext cx="2095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9CAAC0"/>
                </a:solidFill>
                <a:latin typeface="Roboto Mono"/>
                <a:ea typeface="Roboto Mono"/>
                <a:cs typeface="Roboto Mono"/>
                <a:sym typeface="Roboto Mono"/>
              </a:rPr>
              <a:t>Retraining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3250" y="6181725"/>
            <a:ext cx="56197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×  Manual and risky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15500" y="6181725"/>
            <a:ext cx="6858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✓  Old vs new model comparison + human approval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200" y="7143750"/>
            <a:ext cx="2095500" cy="24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9CAAC0"/>
                </a:solidFill>
                <a:latin typeface="Roboto Mono"/>
                <a:ea typeface="Roboto Mono"/>
                <a:cs typeface="Roboto Mono"/>
                <a:sym typeface="Roboto Mono"/>
              </a:rPr>
              <a:t>Reporting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43250" y="7115175"/>
            <a:ext cx="56197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×  None or informal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15500" y="7115175"/>
            <a:ext cx="6858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✓  Auto-generated report and alert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38200" y="8401050"/>
            <a:ext cx="16611600" cy="781050"/>
            <a:chOff x="0" y="0"/>
            <a:chExt cx="22148800" cy="10414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2148800" cy="1041400"/>
              <a:chOff x="0" y="0"/>
              <a:chExt cx="22148800" cy="10414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148800" cy="1041400"/>
              </a:xfrm>
              <a:custGeom>
                <a:avLst/>
                <a:gdLst/>
                <a:ahLst/>
                <a:cxnLst/>
                <a:rect r="r" b="b" t="t" l="l"/>
                <a:pathLst>
                  <a:path h="1041400" w="221488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0D2C3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2148800" cy="1079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041400" y="339725"/>
              <a:ext cx="20066000" cy="426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Result: faster detection · consistent decisions · fewer false alarms · full audit trail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Harsh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52450"/>
            <a:ext cx="133350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6 Agents + 1 Human, One Mission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38200" y="1666875"/>
            <a:ext cx="5048250" cy="2619375"/>
            <a:chOff x="0" y="0"/>
            <a:chExt cx="6731000" cy="3492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731000" cy="3492500"/>
              <a:chOff x="0" y="0"/>
              <a:chExt cx="6731000" cy="3492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31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731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55600" y="361950"/>
              <a:ext cx="889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3B82F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▣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33500" y="390525"/>
              <a:ext cx="4826000" cy="397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PLANNER AGENT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33500" y="990600"/>
              <a:ext cx="444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lang="en-US" sz="1350">
                  <a:solidFill>
                    <a:srgbClr val="A855F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Planner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81000" y="1812925"/>
              <a:ext cx="5969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Builds a task plan from the data; re-plans if data is bad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62700" y="1666875"/>
            <a:ext cx="5048250" cy="2619375"/>
            <a:chOff x="0" y="0"/>
            <a:chExt cx="6731000" cy="3492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731000" cy="3492500"/>
              <a:chOff x="0" y="0"/>
              <a:chExt cx="6731000" cy="3492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731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731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55600" y="361950"/>
              <a:ext cx="889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3B82F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⌕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33500" y="390525"/>
              <a:ext cx="4826000" cy="397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PROFILER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333500" y="990600"/>
              <a:ext cx="444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lang="en-US" sz="1350">
                  <a:solidFill>
                    <a:srgbClr val="A855F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Research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1000" y="1812925"/>
              <a:ext cx="5969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Checks schema, missing values, sample size, statistics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87200" y="1666875"/>
            <a:ext cx="5048250" cy="2619375"/>
            <a:chOff x="0" y="0"/>
            <a:chExt cx="6731000" cy="3492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731000" cy="3492500"/>
              <a:chOff x="0" y="0"/>
              <a:chExt cx="6731000" cy="3492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731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731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5600" y="361950"/>
              <a:ext cx="889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3B82F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⌁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333500" y="390525"/>
              <a:ext cx="4826000" cy="397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DRIFT DETECTOR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333500" y="990600"/>
              <a:ext cx="444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lang="en-US" sz="1350">
                  <a:solidFill>
                    <a:srgbClr val="A855F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Executor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81000" y="1812925"/>
              <a:ext cx="5969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Runs KS, Chi-square &amp; PSI tests on every feature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38200" y="4667250"/>
            <a:ext cx="5048250" cy="2619375"/>
            <a:chOff x="0" y="0"/>
            <a:chExt cx="6731000" cy="3492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731000" cy="3492500"/>
              <a:chOff x="0" y="0"/>
              <a:chExt cx="6731000" cy="3492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731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731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55600" y="361950"/>
              <a:ext cx="889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3B82F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⑂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33500" y="390525"/>
              <a:ext cx="4826000" cy="397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DECISION AGENT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333500" y="990600"/>
              <a:ext cx="444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lang="en-US" sz="1350">
                  <a:solidFill>
                    <a:srgbClr val="A855F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Business Automation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81000" y="1812925"/>
              <a:ext cx="5969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Applies policy: No Action / Alert / Retrain / Fix Pipeline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62700" y="4667250"/>
            <a:ext cx="5048250" cy="2619375"/>
            <a:chOff x="0" y="0"/>
            <a:chExt cx="6731000" cy="34925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6731000" cy="3492500"/>
              <a:chOff x="0" y="0"/>
              <a:chExt cx="6731000" cy="34925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731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6731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55600" y="361950"/>
              <a:ext cx="889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3B82F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◇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333500" y="390525"/>
              <a:ext cx="4826000" cy="397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CRITIC AGENT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333500" y="990600"/>
              <a:ext cx="444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lang="en-US" sz="1350">
                  <a:solidFill>
                    <a:srgbClr val="A855F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Critic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81000" y="1812925"/>
              <a:ext cx="5969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Validates evidence and decision; triggers retries or escalation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87200" y="4667250"/>
            <a:ext cx="5048250" cy="2619375"/>
            <a:chOff x="0" y="0"/>
            <a:chExt cx="6731000" cy="34925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6731000" cy="3492500"/>
              <a:chOff x="0" y="0"/>
              <a:chExt cx="6731000" cy="34925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731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6731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55600" y="361950"/>
              <a:ext cx="889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3B82F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▤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333500" y="390525"/>
              <a:ext cx="4826000" cy="397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REPORTER / ACTION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333500" y="990600"/>
              <a:ext cx="4445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lang="en-US" sz="1350">
                  <a:solidFill>
                    <a:srgbClr val="A855F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Executor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81000" y="1812925"/>
              <a:ext cx="5969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Writes report &amp; alert; retrains and compares models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38200" y="7953375"/>
            <a:ext cx="16611600" cy="952500"/>
            <a:chOff x="0" y="0"/>
            <a:chExt cx="22148800" cy="12700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22148800" cy="1270000"/>
              <a:chOff x="0" y="0"/>
              <a:chExt cx="22148800" cy="12700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21488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221488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B27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221488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1549400" y="415925"/>
              <a:ext cx="19050000" cy="426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HUMAN APPROVER  ◉   Final sign-off before any new model is deployed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Harsh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400050"/>
            <a:ext cx="8572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28625" y="1952625"/>
            <a:ext cx="3619500" cy="3429000"/>
            <a:chOff x="0" y="0"/>
            <a:chExt cx="4826000" cy="457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826000" cy="4572000"/>
              <a:chOff x="0" y="0"/>
              <a:chExt cx="4826000" cy="457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260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4826000">
                    <a:moveTo>
                      <a:pt x="0" y="0"/>
                    </a:moveTo>
                    <a:lnTo>
                      <a:pt x="4826000" y="0"/>
                    </a:lnTo>
                    <a:lnTo>
                      <a:pt x="4826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260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17500" y="450850"/>
              <a:ext cx="4191000" cy="1589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DATA</a:t>
              </a:r>
            </a:p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reference.csv (training data)</a:t>
              </a:r>
            </a:p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production batch (per scenario)</a:t>
              </a:r>
            </a:p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champion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7500" y="1952625"/>
            <a:ext cx="3571875" cy="3714750"/>
            <a:chOff x="0" y="0"/>
            <a:chExt cx="4762500" cy="4953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762500" cy="4953000"/>
              <a:chOff x="0" y="0"/>
              <a:chExt cx="4762500" cy="4953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7625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4762500">
                    <a:moveTo>
                      <a:pt x="0" y="0"/>
                    </a:moveTo>
                    <a:lnTo>
                      <a:pt x="4762500" y="0"/>
                    </a:lnTo>
                    <a:lnTo>
                      <a:pt x="47625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7625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44500" y="450850"/>
              <a:ext cx="4064000" cy="2402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TOOLS</a:t>
              </a:r>
            </a:p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pandas · NumPy</a:t>
              </a:r>
            </a:p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SciPy (KS, Chi²) · PSI</a:t>
              </a:r>
            </a:p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scikit-learn · Plotly</a:t>
              </a:r>
            </a:p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LangGraph</a:t>
              </a:r>
            </a:p>
            <a:p>
              <a:pPr algn="l">
                <a:lnSpc>
                  <a:spcPts val="2441"/>
                </a:lnSpc>
              </a:pPr>
              <a:r>
                <a:rPr lang="en-US" sz="15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Ollama / Mock LLM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76750" y="1285875"/>
            <a:ext cx="9334500" cy="742950"/>
            <a:chOff x="0" y="0"/>
            <a:chExt cx="12446000" cy="9906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2446000" cy="990600"/>
              <a:chOff x="0" y="0"/>
              <a:chExt cx="12446000" cy="9906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4460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12446000">
                    <a:moveTo>
                      <a:pt x="0" y="0"/>
                    </a:moveTo>
                    <a:lnTo>
                      <a:pt x="12446000" y="0"/>
                    </a:lnTo>
                    <a:lnTo>
                      <a:pt x="124460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3B82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2446000" cy="1028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81000" y="161925"/>
              <a:ext cx="11684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Streamlit UI</a:t>
              </a:r>
            </a:p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Pick scenario · Run watchdog · View trace · Approve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9144000" y="2028825"/>
            <a:ext cx="0" cy="304800"/>
          </a:xfrm>
          <a:prstGeom prst="line">
            <a:avLst/>
          </a:prstGeom>
          <a:ln cap="flat" w="28575">
            <a:solidFill>
              <a:srgbClr val="14B8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4476750" y="2333625"/>
            <a:ext cx="9334500" cy="685800"/>
            <a:chOff x="0" y="0"/>
            <a:chExt cx="12446000" cy="9144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446000" cy="914400"/>
              <a:chOff x="0" y="0"/>
              <a:chExt cx="12446000" cy="914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4460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12446000">
                    <a:moveTo>
                      <a:pt x="0" y="0"/>
                    </a:moveTo>
                    <a:lnTo>
                      <a:pt x="12446000" y="0"/>
                    </a:lnTo>
                    <a:lnTo>
                      <a:pt x="124460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24460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81000" y="171450"/>
              <a:ext cx="11684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5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Planner Agent  —  Labels present? Feature types? → Task plan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9144000" y="3019425"/>
            <a:ext cx="0" cy="266700"/>
          </a:xfrm>
          <a:prstGeom prst="line">
            <a:avLst/>
          </a:prstGeom>
          <a:ln cap="flat" w="28575">
            <a:solidFill>
              <a:srgbClr val="14B8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4476750" y="3286125"/>
            <a:ext cx="9334500" cy="685800"/>
            <a:chOff x="0" y="0"/>
            <a:chExt cx="12446000" cy="914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2446000" cy="914400"/>
              <a:chOff x="0" y="0"/>
              <a:chExt cx="12446000" cy="914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4460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12446000">
                    <a:moveTo>
                      <a:pt x="0" y="0"/>
                    </a:moveTo>
                    <a:lnTo>
                      <a:pt x="12446000" y="0"/>
                    </a:lnTo>
                    <a:lnTo>
                      <a:pt x="124460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4460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81000" y="171450"/>
              <a:ext cx="11684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5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Profiler  —  Schema · Missing values · Sample size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9144000" y="3971925"/>
            <a:ext cx="0" cy="266700"/>
          </a:xfrm>
          <a:prstGeom prst="line">
            <a:avLst/>
          </a:prstGeom>
          <a:ln cap="flat" w="28575">
            <a:solidFill>
              <a:srgbClr val="14B8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4476750" y="4238625"/>
            <a:ext cx="9334500" cy="742950"/>
            <a:chOff x="0" y="0"/>
            <a:chExt cx="12446000" cy="9906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2446000" cy="990600"/>
              <a:chOff x="0" y="0"/>
              <a:chExt cx="12446000" cy="9906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24460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12446000">
                    <a:moveTo>
                      <a:pt x="0" y="0"/>
                    </a:moveTo>
                    <a:lnTo>
                      <a:pt x="12446000" y="0"/>
                    </a:lnTo>
                    <a:lnTo>
                      <a:pt x="124460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2446000" cy="1028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81000" y="171450"/>
              <a:ext cx="11684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5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Drift Detector  —  KS · Chi² · PSI · Prediction drift · Accuracy (if labels)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9144000" y="4981575"/>
            <a:ext cx="0" cy="304800"/>
          </a:xfrm>
          <a:prstGeom prst="line">
            <a:avLst/>
          </a:prstGeom>
          <a:ln cap="flat" w="28575">
            <a:solidFill>
              <a:srgbClr val="14B8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4476750" y="5286375"/>
            <a:ext cx="9334500" cy="819150"/>
            <a:chOff x="0" y="0"/>
            <a:chExt cx="12446000" cy="10922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2446000" cy="1092200"/>
              <a:chOff x="0" y="0"/>
              <a:chExt cx="12446000" cy="1092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24460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2446000">
                    <a:moveTo>
                      <a:pt x="0" y="0"/>
                    </a:moveTo>
                    <a:lnTo>
                      <a:pt x="12446000" y="0"/>
                    </a:lnTo>
                    <a:lnTo>
                      <a:pt x="12446000" y="1092200"/>
                    </a:lnTo>
                    <a:lnTo>
                      <a:pt x="0" y="10922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2446000" cy="113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381000" y="171450"/>
              <a:ext cx="11684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5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Decision Agent</a:t>
              </a:r>
            </a:p>
            <a:p>
              <a:pPr algn="ctr">
                <a:lnSpc>
                  <a:spcPts val="2025"/>
                </a:lnSpc>
              </a:pPr>
              <a:r>
                <a:rPr lang="en-US" sz="15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No Action   ·   Alert   ·   Retrain   ·   Fix Pipeline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9144000" y="6105525"/>
            <a:ext cx="0" cy="276225"/>
          </a:xfrm>
          <a:prstGeom prst="line">
            <a:avLst/>
          </a:prstGeom>
          <a:ln cap="flat" w="28575">
            <a:solidFill>
              <a:srgbClr val="14B8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4476750" y="6381750"/>
            <a:ext cx="9334500" cy="685800"/>
            <a:chOff x="0" y="0"/>
            <a:chExt cx="12446000" cy="9144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2446000" cy="914400"/>
              <a:chOff x="0" y="0"/>
              <a:chExt cx="12446000" cy="914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24460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12446000">
                    <a:moveTo>
                      <a:pt x="0" y="0"/>
                    </a:moveTo>
                    <a:lnTo>
                      <a:pt x="12446000" y="0"/>
                    </a:lnTo>
                    <a:lnTo>
                      <a:pt x="124460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rgbClr val="261C3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124460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81000" y="171450"/>
              <a:ext cx="11684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5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Critic Agent  ◇  —  Retry (max 2) · Still failing → Escalate to Human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9144000" y="7067550"/>
            <a:ext cx="0" cy="266700"/>
          </a:xfrm>
          <a:prstGeom prst="line">
            <a:avLst/>
          </a:prstGeom>
          <a:ln cap="flat" w="28575">
            <a:solidFill>
              <a:srgbClr val="14B8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4476750" y="7334250"/>
            <a:ext cx="9334500" cy="742950"/>
            <a:chOff x="0" y="0"/>
            <a:chExt cx="12446000" cy="9906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12446000" cy="990600"/>
              <a:chOff x="0" y="0"/>
              <a:chExt cx="12446000" cy="9906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2446000" cy="990600"/>
              </a:xfrm>
              <a:custGeom>
                <a:avLst/>
                <a:gdLst/>
                <a:ahLst/>
                <a:cxnLst/>
                <a:rect r="r" b="b" t="t" l="l"/>
                <a:pathLst>
                  <a:path h="990600" w="12446000">
                    <a:moveTo>
                      <a:pt x="0" y="0"/>
                    </a:moveTo>
                    <a:lnTo>
                      <a:pt x="12446000" y="0"/>
                    </a:lnTo>
                    <a:lnTo>
                      <a:pt x="12446000" y="990600"/>
                    </a:lnTo>
                    <a:lnTo>
                      <a:pt x="0" y="9906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12446000" cy="1028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381000" y="171450"/>
              <a:ext cx="11684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5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Reporter / Action Agent  —  Report · Alert · Retrain challenger · Champion vs Challenger (AUC)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>
            <a:off x="9144000" y="8077200"/>
            <a:ext cx="0" cy="257175"/>
          </a:xfrm>
          <a:prstGeom prst="line">
            <a:avLst/>
          </a:prstGeom>
          <a:ln cap="flat" w="28575">
            <a:solidFill>
              <a:srgbClr val="14B8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4476750" y="8334375"/>
            <a:ext cx="9334500" cy="609600"/>
            <a:chOff x="0" y="0"/>
            <a:chExt cx="12446000" cy="812800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12446000" cy="812800"/>
              <a:chOff x="0" y="0"/>
              <a:chExt cx="12446000" cy="8128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2446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2446000">
                    <a:moveTo>
                      <a:pt x="0" y="0"/>
                    </a:moveTo>
                    <a:lnTo>
                      <a:pt x="12446000" y="0"/>
                    </a:lnTo>
                    <a:lnTo>
                      <a:pt x="124460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735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124460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381000" y="171450"/>
              <a:ext cx="11684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</a:pPr>
              <a:r>
                <a:rPr lang="en-US" sz="15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Human Approval  —  Deploy new model / Close incident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906000" y="2066925"/>
            <a:ext cx="3048000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00">
                <a:solidFill>
                  <a:srgbClr val="14B8A6"/>
                </a:solidFill>
                <a:latin typeface="Roboto Mono"/>
                <a:ea typeface="Roboto Mono"/>
                <a:cs typeface="Roboto Mono"/>
                <a:sym typeface="Roboto Mono"/>
              </a:rPr>
              <a:t>request + new data batch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620250" y="3990975"/>
            <a:ext cx="1714500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00">
                <a:solidFill>
                  <a:srgbClr val="14B8A6"/>
                </a:solidFill>
                <a:latin typeface="Roboto Mono"/>
                <a:ea typeface="Roboto Mono"/>
                <a:cs typeface="Roboto Mono"/>
                <a:sym typeface="Roboto Mono"/>
              </a:rPr>
              <a:t>data OK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192000" y="3276600"/>
            <a:ext cx="200025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00">
                <a:solidFill>
                  <a:srgbClr val="A855F7"/>
                </a:solidFill>
                <a:latin typeface="Roboto Mono"/>
                <a:ea typeface="Roboto Mono"/>
                <a:cs typeface="Roboto Mono"/>
                <a:sym typeface="Roboto Mono"/>
              </a:rPr>
              <a:t>Missing &gt;10% / schema error</a:t>
            </a:r>
          </a:p>
          <a:p>
            <a:pPr algn="l">
              <a:lnSpc>
                <a:spcPts val="1500"/>
              </a:lnSpc>
            </a:pPr>
            <a:r>
              <a:rPr lang="en-US" sz="1200">
                <a:solidFill>
                  <a:srgbClr val="A855F7"/>
                </a:solidFill>
                <a:latin typeface="Roboto Mono"/>
                <a:ea typeface="Roboto Mono"/>
                <a:cs typeface="Roboto Mono"/>
                <a:sym typeface="Roboto Mono"/>
              </a:rPr>
              <a:t>RE-PLAN → Fix Pipeline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143250" y="9039225"/>
            <a:ext cx="12001500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725">
                <a:solidFill>
                  <a:srgbClr val="14B8A6"/>
                </a:solidFill>
                <a:latin typeface="Open Sans"/>
                <a:ea typeface="Open Sans"/>
                <a:cs typeface="Open Sans"/>
                <a:sym typeface="Open Sans"/>
              </a:rPr>
              <a:t>Orchestrated with LangGraph: shared state + conditional edges for re-planning, retries and escalation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Harsh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8" id="68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42925"/>
            <a:ext cx="13811250" cy="62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4275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Agents Decide — and Double-Check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38200" y="1381125"/>
            <a:ext cx="7810500" cy="6572250"/>
            <a:chOff x="0" y="0"/>
            <a:chExt cx="10414000" cy="876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414000" cy="8763000"/>
              <a:chOff x="0" y="0"/>
              <a:chExt cx="10414000" cy="876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414000" cy="8763000"/>
              </a:xfrm>
              <a:custGeom>
                <a:avLst/>
                <a:gdLst/>
                <a:ahLst/>
                <a:cxnLst/>
                <a:rect r="r" b="b" t="t" l="l"/>
                <a:pathLst>
                  <a:path h="8763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8763000"/>
                    </a:lnTo>
                    <a:lnTo>
                      <a:pt x="0" y="8763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414000" cy="880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06400" y="327025"/>
              <a:ext cx="8255000" cy="49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550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Decision Policy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69900" y="1079500"/>
              <a:ext cx="9271000" cy="547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lang="en-US" sz="13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PSI &lt; 0.10 Stable | 0.10–0.25 Moderate | &gt; 0.25 Major | p-value &lt; 0.05 = Drift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69900" y="2076450"/>
              <a:ext cx="9144000" cy="4305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FIX PIPELINE  Missing values &gt; 10% or schema mismatch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RETRAIN  Major drift on a critical feature, prediction PSI &gt; 0.25, or accuracy drop &gt; 5 pts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ALERT  Moderate drift, or major drift on a non-critical feature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NO ACTION  Everything stable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Critical features: credit_score, monthly_income, loan_amount, employment_type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48750" y="1381125"/>
            <a:ext cx="8401050" cy="6572250"/>
            <a:chOff x="0" y="0"/>
            <a:chExt cx="11201400" cy="876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201400" cy="8763000"/>
              <a:chOff x="0" y="0"/>
              <a:chExt cx="11201400" cy="876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201400" cy="8763000"/>
              </a:xfrm>
              <a:custGeom>
                <a:avLst/>
                <a:gdLst/>
                <a:ahLst/>
                <a:cxnLst/>
                <a:rect r="r" b="b" t="t" l="l"/>
                <a:pathLst>
                  <a:path h="8763000" w="11201400">
                    <a:moveTo>
                      <a:pt x="0" y="0"/>
                    </a:moveTo>
                    <a:lnTo>
                      <a:pt x="11201400" y="0"/>
                    </a:lnTo>
                    <a:lnTo>
                      <a:pt x="11201400" y="8763000"/>
                    </a:lnTo>
                    <a:lnTo>
                      <a:pt x="0" y="8763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1201400" cy="880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35000" y="327025"/>
              <a:ext cx="8255000" cy="49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550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Critic Checks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35000" y="1431925"/>
              <a:ext cx="8890000" cy="417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◇  Sample size &lt; 500 → Profiler uses a larger window</a:t>
              </a: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◇  KS &amp; PSI disagree → Detector re-checks with bootstrap</a:t>
              </a: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◇  Decision breaks policy → Decision agent revises</a:t>
              </a: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◇  Still failing after 2 retries → Escalate to human</a:t>
              </a: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◇  New model deployed only if AUC improves ≥ 0.01 AND human approves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8200" y="8382000"/>
            <a:ext cx="16611600" cy="762000"/>
            <a:chOff x="0" y="0"/>
            <a:chExt cx="22148800" cy="1016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2148800" cy="1016000"/>
              <a:chOff x="0" y="0"/>
              <a:chExt cx="22148800" cy="1016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1488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221488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0D2C3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1488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787400" y="327025"/>
              <a:ext cx="20574000" cy="33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Design principle: Decisions come from statistics and rules (auditable &amp; repeatable). The LLM only explains them in plain English.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Divyansh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23875"/>
            <a:ext cx="12382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4 Synthetic Scenarios We Test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266825"/>
            <a:ext cx="15811500" cy="57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Synthetic loan data: 5,000 training rows + 1,000-row production batch · Features: age, monthly income, loan amount, credit score, employment type, city tier · Target: default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38200" y="2619375"/>
            <a:ext cx="3810000" cy="4000500"/>
            <a:chOff x="0" y="0"/>
            <a:chExt cx="5080000" cy="533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080000" cy="5334000"/>
              <a:chOff x="0" y="0"/>
              <a:chExt cx="5080000" cy="533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0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80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5080000" cy="101600"/>
              <a:chOff x="0" y="0"/>
              <a:chExt cx="5080000" cy="1016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0800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2C55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0800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55600" y="555625"/>
              <a:ext cx="4445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22C55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Normal Week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5600" y="1631950"/>
              <a:ext cx="4445000" cy="762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Injected: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Nothing changed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5600" y="3692525"/>
              <a:ext cx="4445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1"/>
                </a:lnSpc>
              </a:pPr>
              <a:r>
                <a:rPr lang="en-US" sz="172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Expected:</a:t>
              </a:r>
            </a:p>
            <a:p>
              <a:pPr algn="l">
                <a:lnSpc>
                  <a:spcPts val="1811"/>
                </a:lnSpc>
              </a:pPr>
              <a:r>
                <a:rPr lang="en-US" sz="172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✅ No Action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81575" y="2619375"/>
            <a:ext cx="3810000" cy="4000500"/>
            <a:chOff x="0" y="0"/>
            <a:chExt cx="5080000" cy="533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080000" cy="5334000"/>
              <a:chOff x="0" y="0"/>
              <a:chExt cx="5080000" cy="533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080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080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5080000" cy="101600"/>
              <a:chOff x="0" y="0"/>
              <a:chExt cx="5080000" cy="1016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0800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F59E0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0800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55600" y="555625"/>
              <a:ext cx="4445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59E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Gradual Drift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55600" y="1631950"/>
              <a:ext cx="4445000" cy="762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Injected: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Incomes up ~20%, city tier shifts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55600" y="3692525"/>
              <a:ext cx="4445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1"/>
                </a:lnSpc>
              </a:pPr>
              <a:r>
                <a:rPr lang="en-US" sz="172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Expected:</a:t>
              </a:r>
            </a:p>
            <a:p>
              <a:pPr algn="l">
                <a:lnSpc>
                  <a:spcPts val="1811"/>
                </a:lnSpc>
              </a:pPr>
              <a:r>
                <a:rPr lang="en-US" sz="172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⚠️ Alert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4950" y="2619375"/>
            <a:ext cx="3810000" cy="4000500"/>
            <a:chOff x="0" y="0"/>
            <a:chExt cx="5080000" cy="5334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080000" cy="5334000"/>
              <a:chOff x="0" y="0"/>
              <a:chExt cx="5080000" cy="5334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080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5080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5080000" cy="101600"/>
              <a:chOff x="0" y="0"/>
              <a:chExt cx="5080000" cy="101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0800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EF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50800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55600" y="555625"/>
              <a:ext cx="4445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EF444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Sudden Drift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55600" y="1631950"/>
              <a:ext cx="4445000" cy="115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Injected: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Influx of gig workers, lower credit scores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55600" y="3692525"/>
              <a:ext cx="4445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1"/>
                </a:lnSpc>
              </a:pPr>
              <a:r>
                <a:rPr lang="en-US" sz="172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Expected:</a:t>
              </a:r>
            </a:p>
            <a:p>
              <a:pPr algn="l">
                <a:lnSpc>
                  <a:spcPts val="1811"/>
                </a:lnSpc>
              </a:pPr>
              <a:r>
                <a:rPr lang="en-US" sz="172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🔁 Retrain → Human approves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68325" y="2619375"/>
            <a:ext cx="3810000" cy="4000500"/>
            <a:chOff x="0" y="0"/>
            <a:chExt cx="5080000" cy="53340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5080000" cy="5334000"/>
              <a:chOff x="0" y="0"/>
              <a:chExt cx="5080000" cy="5334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080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5080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5080000" cy="101600"/>
              <a:chOff x="0" y="0"/>
              <a:chExt cx="5080000" cy="1016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0800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A855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50800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355600" y="555625"/>
              <a:ext cx="4445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A855F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Pipeline Bug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55600" y="1631950"/>
              <a:ext cx="4445000" cy="762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Injected: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40% credit scores missing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55600" y="3692525"/>
              <a:ext cx="4445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1"/>
                </a:lnSpc>
              </a:pPr>
              <a:r>
                <a:rPr lang="en-US" sz="172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Expected:</a:t>
              </a:r>
            </a:p>
            <a:p>
              <a:pPr algn="l">
                <a:lnSpc>
                  <a:spcPts val="1811"/>
                </a:lnSpc>
              </a:pPr>
              <a:r>
                <a:rPr lang="en-US" sz="1725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🛠️ Fix Pipeline (NOT retrain)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38200" y="8096250"/>
            <a:ext cx="16611600" cy="1047750"/>
            <a:chOff x="0" y="0"/>
            <a:chExt cx="22148800" cy="139700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2148800" cy="1397000"/>
              <a:chOff x="0" y="0"/>
              <a:chExt cx="22148800" cy="1397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21488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2148800">
                    <a:moveTo>
                      <a:pt x="0" y="0"/>
                    </a:moveTo>
                    <a:lnTo>
                      <a:pt x="22148800" y="0"/>
                    </a:lnTo>
                    <a:lnTo>
                      <a:pt x="221488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281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221488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168400" y="415925"/>
              <a:ext cx="19812000" cy="412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Scenario 4 is the key test: a naive system would retrain on broken data — our agents don't.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Divyansh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3" id="53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52450"/>
            <a:ext cx="114300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Live Demo — Streamlit PoC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000500" y="1762125"/>
            <a:ext cx="10096500" cy="6715125"/>
            <a:chOff x="0" y="0"/>
            <a:chExt cx="13462000" cy="8953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016000" y="0"/>
              <a:ext cx="11430000" cy="8255000"/>
              <a:chOff x="0" y="0"/>
              <a:chExt cx="11430000" cy="825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430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1430000">
                    <a:moveTo>
                      <a:pt x="0" y="0"/>
                    </a:moveTo>
                    <a:lnTo>
                      <a:pt x="11430000" y="0"/>
                    </a:lnTo>
                    <a:lnTo>
                      <a:pt x="11430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8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1430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33500" y="444500"/>
              <a:ext cx="10795000" cy="6794500"/>
              <a:chOff x="0" y="0"/>
              <a:chExt cx="10795000" cy="6794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795000" cy="6794500"/>
              </a:xfrm>
              <a:custGeom>
                <a:avLst/>
                <a:gdLst/>
                <a:ahLst/>
                <a:cxnLst/>
                <a:rect r="r" b="b" t="t" l="l"/>
                <a:pathLst>
                  <a:path h="67945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6794500"/>
                    </a:lnTo>
                    <a:lnTo>
                      <a:pt x="0" y="6794500"/>
                    </a:lnTo>
                    <a:close/>
                  </a:path>
                </a:pathLst>
              </a:custGeom>
              <a:solidFill>
                <a:srgbClr val="0E162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795000" cy="683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8255000"/>
              <a:ext cx="13462000" cy="698500"/>
              <a:chOff x="0" y="0"/>
              <a:chExt cx="13462000" cy="698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4620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13462000">
                    <a:moveTo>
                      <a:pt x="0" y="0"/>
                    </a:moveTo>
                    <a:lnTo>
                      <a:pt x="13462000" y="0"/>
                    </a:lnTo>
                    <a:lnTo>
                      <a:pt x="12654280" y="698500"/>
                    </a:lnTo>
                    <a:lnTo>
                      <a:pt x="807720" y="698500"/>
                    </a:lnTo>
                    <a:close/>
                  </a:path>
                </a:pathLst>
              </a:custGeom>
              <a:solidFill>
                <a:srgbClr val="334155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TextBox 12" id="12"/>
          <p:cNvSpPr txBox="true"/>
          <p:nvPr/>
        </p:nvSpPr>
        <p:spPr>
          <a:xfrm rot="0">
            <a:off x="857250" y="2305050"/>
            <a:ext cx="3619500" cy="79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1  Sidebar</a:t>
            </a:r>
          </a:p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scenario picker · labels toggle · Ollama on/off · Run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5781675"/>
            <a:ext cx="3714750" cy="79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2  Agent Trace</a:t>
            </a:r>
          </a:p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step-by-step timeline of every agent, including retries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11250" y="2209800"/>
            <a:ext cx="3619500" cy="79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3  Drift Analysis</a:t>
            </a:r>
          </a:p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reference vs production charts · PSI bars · drift table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11250" y="4448175"/>
            <a:ext cx="3619500" cy="53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4  Decision &amp; Critic</a:t>
            </a:r>
          </a:p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triggered rule + pass/fail checklist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11250" y="6638925"/>
            <a:ext cx="3619500" cy="79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5  Report &amp; Action</a:t>
            </a:r>
          </a:p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plain-English report · champion vs challenger · Approve / Reject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86250" y="8743950"/>
            <a:ext cx="9715500" cy="31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3"/>
              </a:lnSpc>
            </a:pPr>
            <a:r>
              <a:rPr lang="en-US" sz="2175" b="true">
                <a:solidFill>
                  <a:srgbClr val="14B8A6"/>
                </a:solidFill>
                <a:latin typeface="Poppins Bold"/>
                <a:ea typeface="Poppins Bold"/>
                <a:cs typeface="Poppins Bold"/>
                <a:sym typeface="Poppins Bold"/>
              </a:rPr>
              <a:t>Demo flow: Normal Week → Sudden Drift → Pipeline Bug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Divyansh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Freeform 25" id="25" descr="Model Drift Watchdog Streamlit app showing the agent trace for the Sudden drift scenario"/>
          <p:cNvSpPr/>
          <p:nvPr/>
        </p:nvSpPr>
        <p:spPr>
          <a:xfrm flipH="false" flipV="false" rot="0">
            <a:off x="5000625" y="2095500"/>
            <a:ext cx="8096250" cy="5095875"/>
          </a:xfrm>
          <a:custGeom>
            <a:avLst/>
            <a:gdLst/>
            <a:ahLst/>
            <a:cxnLst/>
            <a:rect r="r" b="b" t="t" l="l"/>
            <a:pathLst>
              <a:path h="5095875" w="8096250">
                <a:moveTo>
                  <a:pt x="0" y="0"/>
                </a:moveTo>
                <a:lnTo>
                  <a:pt x="8096250" y="0"/>
                </a:lnTo>
                <a:lnTo>
                  <a:pt x="8096250" y="5095875"/>
                </a:lnTo>
                <a:lnTo>
                  <a:pt x="0" y="5095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" t="0" r="-52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52450"/>
            <a:ext cx="12382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How We Validate the Output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38200" y="1428750"/>
            <a:ext cx="7524750" cy="6572250"/>
            <a:chOff x="0" y="0"/>
            <a:chExt cx="10033000" cy="876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8763000"/>
              <a:chOff x="0" y="0"/>
              <a:chExt cx="10033000" cy="876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8763000"/>
              </a:xfrm>
              <a:custGeom>
                <a:avLst/>
                <a:gdLst/>
                <a:ahLst/>
                <a:cxnLst/>
                <a:rect r="r" b="b" t="t" l="l"/>
                <a:pathLst>
                  <a:path h="8763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8763000"/>
                    </a:lnTo>
                    <a:lnTo>
                      <a:pt x="0" y="8763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880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42900" y="390525"/>
              <a:ext cx="8255000" cy="49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550" b="tru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 Layers of Validation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33400" y="1377950"/>
              <a:ext cx="8763000" cy="3630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1  Ground truth: we know what drift was injected</a:t>
              </a:r>
            </a:p>
            <a:p>
              <a:pPr algn="l">
                <a:lnSpc>
                  <a:spcPts val="2430"/>
                </a:lnSpc>
              </a:pP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2  Detection check: drifted features vs flagged features</a:t>
              </a:r>
            </a:p>
            <a:p>
              <a:pPr algn="l">
                <a:lnSpc>
                  <a:spcPts val="2430"/>
                </a:lnSpc>
              </a:pP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3  Critic checks: sample size, test agreement, policy</a:t>
              </a:r>
            </a:p>
            <a:p>
              <a:pPr algn="l">
                <a:lnSpc>
                  <a:spcPts val="2430"/>
                </a:lnSpc>
              </a:pP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4  Model check: challenger must beat champion on fresh data</a:t>
              </a:r>
            </a:p>
            <a:p>
              <a:pPr algn="l">
                <a:lnSpc>
                  <a:spcPts val="2430"/>
                </a:lnSpc>
              </a:pP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5  Human check: nothing deploys without approval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63000" y="1428750"/>
            <a:ext cx="8686800" cy="4953000"/>
            <a:chOff x="0" y="0"/>
            <a:chExt cx="11582400" cy="6604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1582400" cy="6604000"/>
              <a:chOff x="0" y="0"/>
              <a:chExt cx="11582400" cy="6604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5824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11582400">
                    <a:moveTo>
                      <a:pt x="0" y="0"/>
                    </a:moveTo>
                    <a:lnTo>
                      <a:pt x="11582400" y="0"/>
                    </a:lnTo>
                    <a:lnTo>
                      <a:pt x="115824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15824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5000" y="571500"/>
              <a:ext cx="9906000" cy="32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4B8A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Scenario | Expected | Agent Decision | Match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35000" y="1558925"/>
              <a:ext cx="9906000" cy="291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Normal Week | No Action | No Action | ✅</a:t>
              </a: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Gradual Drift | Alert | Alert | ✅</a:t>
              </a: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Sudden Drift | Retrain | Retrain | ✅</a:t>
              </a: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Pipeline Bug | Fix Pipeline | Fix Pipeline | ✅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0" y="6667500"/>
            <a:ext cx="8877300" cy="1333500"/>
            <a:chOff x="0" y="0"/>
            <a:chExt cx="11836400" cy="1778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54000" y="0"/>
              <a:ext cx="11582400" cy="1778000"/>
              <a:chOff x="0" y="0"/>
              <a:chExt cx="11582400" cy="1778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5824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11582400">
                    <a:moveTo>
                      <a:pt x="0" y="0"/>
                    </a:moveTo>
                    <a:lnTo>
                      <a:pt x="11582400" y="0"/>
                    </a:lnTo>
                    <a:lnTo>
                      <a:pt x="115824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0D2C3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15824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263525"/>
              <a:ext cx="11176000" cy="671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9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8/8 correct (incl. label delay)   ·   Pipeline bug NOT retrained</a:t>
              </a:r>
            </a:p>
            <a:p>
              <a:pPr algn="ctr" marL="0" indent="0" lvl="0">
                <a:lnSpc>
                  <a:spcPts val="189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8FA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Retrain: +0.026 AUC on fresh data   ·   7/7 robustness tests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Divyansh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00075"/>
            <a:ext cx="12382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 &amp; What's Next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38200" y="1571625"/>
            <a:ext cx="7620000" cy="6667500"/>
            <a:chOff x="0" y="0"/>
            <a:chExt cx="10160000" cy="889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160000" cy="8890000"/>
              <a:chOff x="0" y="0"/>
              <a:chExt cx="10160000" cy="889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1600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1600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33400" y="454025"/>
              <a:ext cx="7620000" cy="528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59E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Limitations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33400" y="1549400"/>
              <a:ext cx="8636000" cy="4558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◦ Synthetic data only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◦ Per-feature tests can miss combined (multivariate) drift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◦ Fixed thresholds, not learned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◦ Label delay not simulated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◦ Mock LLM explanations are template-based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48750" y="1571625"/>
            <a:ext cx="8401050" cy="6667500"/>
            <a:chOff x="0" y="0"/>
            <a:chExt cx="11201400" cy="8890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1201400" cy="8890000"/>
              <a:chOff x="0" y="0"/>
              <a:chExt cx="11201400" cy="889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2014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11201400">
                    <a:moveTo>
                      <a:pt x="0" y="0"/>
                    </a:moveTo>
                    <a:lnTo>
                      <a:pt x="11201400" y="0"/>
                    </a:lnTo>
                    <a:lnTo>
                      <a:pt x="112014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111A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12014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016000" y="454025"/>
              <a:ext cx="7620000" cy="528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4B8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Future Scope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16000" y="1549400"/>
              <a:ext cx="8890000" cy="4101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↗ Scheduled / real-time streaming monitoring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↗ Multivariate drift detection (classifier-based)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↗ MLflow model registry integration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↗ Slack / email alerts via MCP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↗ Canary rollout of new models &amp; adaptive thresholds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68500" y="400050"/>
            <a:ext cx="2952750" cy="457200"/>
            <a:chOff x="0" y="0"/>
            <a:chExt cx="39370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37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937000">
                  <a:moveTo>
                    <a:pt x="81935" y="0"/>
                  </a:moveTo>
                  <a:lnTo>
                    <a:pt x="3855065" y="0"/>
                  </a:lnTo>
                  <a:cubicBezTo>
                    <a:pt x="3876795" y="0"/>
                    <a:pt x="3897636" y="8632"/>
                    <a:pt x="3913002" y="23998"/>
                  </a:cubicBezTo>
                  <a:cubicBezTo>
                    <a:pt x="3928368" y="39364"/>
                    <a:pt x="3937000" y="60205"/>
                    <a:pt x="3937000" y="81935"/>
                  </a:cubicBezTo>
                  <a:lnTo>
                    <a:pt x="3937000" y="527664"/>
                  </a:lnTo>
                  <a:cubicBezTo>
                    <a:pt x="3937000" y="549395"/>
                    <a:pt x="3928368" y="570236"/>
                    <a:pt x="3913002" y="585602"/>
                  </a:cubicBezTo>
                  <a:cubicBezTo>
                    <a:pt x="3897636" y="600968"/>
                    <a:pt x="3876795" y="609600"/>
                    <a:pt x="3855065" y="609600"/>
                  </a:cubicBezTo>
                  <a:lnTo>
                    <a:pt x="81935" y="609600"/>
                  </a:lnTo>
                  <a:cubicBezTo>
                    <a:pt x="60205" y="609600"/>
                    <a:pt x="39364" y="600968"/>
                    <a:pt x="23998" y="585602"/>
                  </a:cubicBezTo>
                  <a:cubicBezTo>
                    <a:pt x="8632" y="570236"/>
                    <a:pt x="0" y="549395"/>
                    <a:pt x="0" y="527664"/>
                  </a:cubicBezTo>
                  <a:lnTo>
                    <a:pt x="0" y="81935"/>
                  </a:lnTo>
                  <a:cubicBezTo>
                    <a:pt x="0" y="60205"/>
                    <a:pt x="8632" y="39364"/>
                    <a:pt x="23998" y="23998"/>
                  </a:cubicBezTo>
                  <a:cubicBezTo>
                    <a:pt x="39364" y="8632"/>
                    <a:pt x="60205" y="0"/>
                    <a:pt x="81935" y="0"/>
                  </a:cubicBezTo>
                  <a:close/>
                </a:path>
              </a:pathLst>
            </a:custGeom>
            <a:solidFill>
              <a:srgbClr val="111A2E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9370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Presenter: Divyansh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38200" y="9563100"/>
            <a:ext cx="16611600" cy="0"/>
          </a:xfrm>
          <a:prstGeom prst="line">
            <a:avLst/>
          </a:prstGeom>
          <a:ln cap="flat" w="9525">
            <a:solidFill>
              <a:srgbClr val="2634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38200" y="9725025"/>
            <a:ext cx="619125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| CA-3 Agentic AI PoC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06250" y="9725025"/>
            <a:ext cx="45720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Harsh Sharma &amp; Divyansh Agarwal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59250" y="9725025"/>
            <a:ext cx="571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9CAAC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220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95500" y="2228850"/>
            <a:ext cx="1409700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84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10000" y="3743325"/>
            <a:ext cx="106680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</a:pPr>
            <a:r>
              <a:rPr lang="en-US" sz="4650" b="true">
                <a:solidFill>
                  <a:srgbClr val="14B8A6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38500" y="5210175"/>
            <a:ext cx="11811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Model Drift Watchdog — Detect · Decide · Validate · 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3250" y="6638925"/>
            <a:ext cx="12001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Harsh Sharma (24070126067) · Divyansh Agarwal (24070126056)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6250" y="8839200"/>
            <a:ext cx="9715500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725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Symbiosis Institute of Technology, Pune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DAHYeXh0QIQ</dc:identifier>
  <dcterms:modified xsi:type="dcterms:W3CDTF">2011-08-01T06:04:30Z</dcterms:modified>
  <cp:revision>1</cp:revision>
  <dc:title>Model Drift Watchdog</dc:title>
</cp:coreProperties>
</file>